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1BA2A-5882-458D-9C28-A2170F16268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49644-4203-4586-8C98-DEA5F0A40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4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83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8BD1-D22B-5FBB-E245-BAEE75D6E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198D-2B57-1D50-4268-6C0A94EBE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B2A1C-4395-3ECE-FD66-BC4362DE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08C0-3683-41B8-97E2-6B57699B53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87197-C27D-74CF-0515-C43F30CA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2275B-881B-75C2-5A51-67EA95EA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393AF-9546-4976-8449-6AB1732F8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57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32560-D813-3015-6906-B8EF3F85E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6F0E4-C3C6-E858-F8D8-2B0180391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7F0E9-42DF-8155-BD24-D9AD0BC8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08C0-3683-41B8-97E2-6B57699B53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60CDA-779E-3273-B3CD-28653A7E7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EB7D-5F13-C0FE-844B-6F9707AE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393AF-9546-4976-8449-6AB1732F8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8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A575-159F-FA28-73A9-1C47130E1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6961D-7D84-6091-DF93-2E03CF63F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66F52-8B39-3872-C477-AA473BBF3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08C0-3683-41B8-97E2-6B57699B53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32759-ECD7-8B07-5973-972480C6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37B84-6325-5B79-798F-8747535A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393AF-9546-4976-8449-6AB1732F8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53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F872-9EB4-E293-BB23-AA60260E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6921C-31B9-47A0-9922-CD7A4CFBA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5FEA7-3D95-AE5C-D7E6-DCCFCAC88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9B4F0-B618-C214-0C71-800397C8C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08C0-3683-41B8-97E2-6B57699B53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55110-D7FF-753A-4FBA-B4F81E237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F6C11-ECBF-8687-07A1-08ABBB84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393AF-9546-4976-8449-6AB1732F8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99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3BF0-075B-C4A5-A0C2-4FA5175A4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A2573-37D6-33A0-4769-74D103C89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DDF2F-CAC9-DD4F-1EB9-74262E1EE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1FEB8-CBB3-D9AA-3D59-3E0ACA3BD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EED590-8C3A-A39E-D94B-13093122F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04792C-03A3-E83E-09C9-99FFEA07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08C0-3683-41B8-97E2-6B57699B53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5AF12-A95A-4385-7560-E11FD64D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B2A2A2-A1BB-F916-A89C-325716C3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393AF-9546-4976-8449-6AB1732F8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45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18BB-457B-4E81-D5AD-50CE204C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1448F0-EEB0-9AC7-8777-CD6AE0E7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08C0-3683-41B8-97E2-6B57699B53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08405-0DFB-2310-4889-C95758BD6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3D2D0-A6D0-44BE-DF69-37DF1974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393AF-9546-4976-8449-6AB1732F8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92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8466EB-BD77-9D32-C275-C428CF541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08C0-3683-41B8-97E2-6B57699B53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3F53AF-31AC-1D8C-BDB7-02A38C90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F5CD0-6C47-3D78-98D2-B6265E28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393AF-9546-4976-8449-6AB1732F8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97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E2FD-7FB6-B881-238E-DF26140E3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07163-32FF-D60E-CF2E-1445F5CFB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149C3-A956-850C-ABAF-A79F49299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798C7-6CD0-52B5-5B8F-EBCB8F2F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08C0-3683-41B8-97E2-6B57699B53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F68C5-400C-B13E-AC0C-CC09BB2D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BE7A6-F2ED-0A4E-F307-B3306B9E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393AF-9546-4976-8449-6AB1732F8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8703-E007-90EB-7121-188C57C2B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99C34-29C7-3C49-EB94-5F57ED40C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A569A-6FCA-15D3-07B0-CD4FE6D5B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CD565-1844-0EC0-6BB2-69CB080B8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08C0-3683-41B8-97E2-6B57699B53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919C6-956B-14C8-3592-0834C008A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ABD61-E8A3-0E30-E100-BE8E8B63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393AF-9546-4976-8449-6AB1732F8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39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72465-DFEC-1098-C245-2D30949C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39D8F-ED8E-78C9-BA8E-1237707CD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00F58-4743-A9E1-04E9-C127AD4C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08C0-3683-41B8-97E2-6B57699B53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A019-1E95-2EB6-EDA3-74A373E5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FD135-8F6F-0315-8733-F69C8AA8C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393AF-9546-4976-8449-6AB1732F8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3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DAD8E9-7DC7-78F9-34D7-599C4B3F5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40146-FCB8-E144-07D5-7EE092F7D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E3A7A-F16F-DF51-2C92-FEA9B0CDA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08C0-3683-41B8-97E2-6B57699B53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10B0B-5B71-2917-9395-E46AAED6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11552-9047-A6E3-3BC1-A3049DD4D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393AF-9546-4976-8449-6AB1732F8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47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SACS Title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865120"/>
            <a:ext cx="6827520" cy="1219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59820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SACS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87680"/>
            <a:ext cx="10728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pic>
        <p:nvPicPr>
          <p:cNvPr id="3" name="Footer 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193536"/>
            <a:ext cx="1097280" cy="3899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88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SACS Dark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548640"/>
            <a:ext cx="10728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5067" dirty="0"/>
          </a:p>
        </p:txBody>
      </p:sp>
    </p:spTree>
    <p:extLst>
      <p:ext uri="{BB962C8B-B14F-4D97-AF65-F5344CB8AC3E}">
        <p14:creationId xmlns:p14="http://schemas.microsoft.com/office/powerpoint/2010/main" val="430008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SACS Close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6339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3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5333" dirty="0"/>
          </a:p>
        </p:txBody>
      </p:sp>
    </p:spTree>
    <p:extLst>
      <p:ext uri="{BB962C8B-B14F-4D97-AF65-F5344CB8AC3E}">
        <p14:creationId xmlns:p14="http://schemas.microsoft.com/office/powerpoint/2010/main" val="527279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16A0AA-3320-0C53-52DE-5D026CFDA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48766-9D40-4920-1012-1891E1FF3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B1016-3F4A-3278-0EF2-C729AE1D3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0108C0-3683-41B8-97E2-6B57699B531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33538-79CC-D2D5-A61C-11A59A378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C6385-015A-C3F9-9932-2BC9947F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393AF-9546-4976-8449-6AB1732F8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3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localhost:800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 descr="ISAC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853441"/>
            <a:ext cx="4389120" cy="155979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865120"/>
            <a:ext cx="6827520" cy="1219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Secure. </a:t>
            </a:r>
            <a:r>
              <a:rPr lang="en-US" dirty="0">
                <a:solidFill>
                  <a:srgbClr val="00B4D8"/>
                </a:solidFill>
              </a:rPr>
              <a:t>Smart. </a:t>
            </a:r>
            <a:r>
              <a:rPr lang="en-US" dirty="0">
                <a:solidFill>
                  <a:srgbClr val="FF5A36"/>
                </a:solidFill>
              </a:rPr>
              <a:t>Creative.</a:t>
            </a:r>
            <a:endParaRPr lang="en-US" dirty="0"/>
          </a:p>
        </p:txBody>
      </p:sp>
      <p:sp>
        <p:nvSpPr>
          <p:cNvPr id="5" name="Tagline"/>
          <p:cNvSpPr txBox="1"/>
          <p:nvPr/>
        </p:nvSpPr>
        <p:spPr>
          <a:xfrm>
            <a:off x="731520" y="4267200"/>
            <a:ext cx="633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your infrastructure. Animating your imagination.</a:t>
            </a:r>
            <a:endParaRPr lang="en-US" sz="2667" dirty="0"/>
          </a:p>
        </p:txBody>
      </p:sp>
      <p:sp>
        <p:nvSpPr>
          <p:cNvPr id="6" name="Chip 1"/>
          <p:cNvSpPr/>
          <p:nvPr/>
        </p:nvSpPr>
        <p:spPr>
          <a:xfrm>
            <a:off x="7680960" y="1158240"/>
            <a:ext cx="3779520" cy="914400"/>
          </a:xfrm>
          <a:prstGeom prst="roundRect">
            <a:avLst>
              <a:gd name="adj" fmla="val 24000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Chip icon bg 1"/>
          <p:cNvSpPr/>
          <p:nvPr/>
        </p:nvSpPr>
        <p:spPr>
          <a:xfrm>
            <a:off x="7863840" y="1304544"/>
            <a:ext cx="621792" cy="6217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8" name="Chip icon 1" descr="Cybersecur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240" y="1444752"/>
            <a:ext cx="316992" cy="316992"/>
          </a:xfrm>
          <a:prstGeom prst="rect">
            <a:avLst/>
          </a:prstGeom>
        </p:spPr>
      </p:pic>
      <p:sp>
        <p:nvSpPr>
          <p:cNvPr id="9" name="Chip label 1"/>
          <p:cNvSpPr txBox="1"/>
          <p:nvPr/>
        </p:nvSpPr>
        <p:spPr>
          <a:xfrm>
            <a:off x="8656320" y="1158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2000" dirty="0"/>
          </a:p>
        </p:txBody>
      </p:sp>
      <p:sp>
        <p:nvSpPr>
          <p:cNvPr id="10" name="Chip 2"/>
          <p:cNvSpPr/>
          <p:nvPr/>
        </p:nvSpPr>
        <p:spPr>
          <a:xfrm>
            <a:off x="7680960" y="2377440"/>
            <a:ext cx="3779520" cy="914400"/>
          </a:xfrm>
          <a:prstGeom prst="roundRect">
            <a:avLst>
              <a:gd name="adj" fmla="val 24000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Chip icon bg 2"/>
          <p:cNvSpPr/>
          <p:nvPr/>
        </p:nvSpPr>
        <p:spPr>
          <a:xfrm>
            <a:off x="7863840" y="2523744"/>
            <a:ext cx="621792" cy="6217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2" name="Chip icon 2" descr="Cloud &amp; Managed 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240" y="2663952"/>
            <a:ext cx="316992" cy="316992"/>
          </a:xfrm>
          <a:prstGeom prst="rect">
            <a:avLst/>
          </a:prstGeom>
        </p:spPr>
      </p:pic>
      <p:sp>
        <p:nvSpPr>
          <p:cNvPr id="13" name="Chip label 2"/>
          <p:cNvSpPr txBox="1"/>
          <p:nvPr/>
        </p:nvSpPr>
        <p:spPr>
          <a:xfrm>
            <a:off x="865632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Managed IT</a:t>
            </a:r>
            <a:endParaRPr lang="en-US" sz="2000" dirty="0"/>
          </a:p>
        </p:txBody>
      </p:sp>
      <p:sp>
        <p:nvSpPr>
          <p:cNvPr id="14" name="Chip 3"/>
          <p:cNvSpPr/>
          <p:nvPr/>
        </p:nvSpPr>
        <p:spPr>
          <a:xfrm>
            <a:off x="7680960" y="3596640"/>
            <a:ext cx="3779520" cy="914400"/>
          </a:xfrm>
          <a:prstGeom prst="roundRect">
            <a:avLst>
              <a:gd name="adj" fmla="val 24000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Chip icon bg 3"/>
          <p:cNvSpPr/>
          <p:nvPr/>
        </p:nvSpPr>
        <p:spPr>
          <a:xfrm>
            <a:off x="7863840" y="3742944"/>
            <a:ext cx="621792" cy="6217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6" name="Chip icon 3" descr="Artificial Intelligen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6240" y="3883152"/>
            <a:ext cx="316992" cy="316992"/>
          </a:xfrm>
          <a:prstGeom prst="rect">
            <a:avLst/>
          </a:prstGeom>
        </p:spPr>
      </p:pic>
      <p:sp>
        <p:nvSpPr>
          <p:cNvPr id="17" name="Chip label 3"/>
          <p:cNvSpPr txBox="1"/>
          <p:nvPr/>
        </p:nvSpPr>
        <p:spPr>
          <a:xfrm>
            <a:off x="8656320" y="3596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2000" dirty="0"/>
          </a:p>
        </p:txBody>
      </p:sp>
      <p:sp>
        <p:nvSpPr>
          <p:cNvPr id="18" name="Chip 4"/>
          <p:cNvSpPr/>
          <p:nvPr/>
        </p:nvSpPr>
        <p:spPr>
          <a:xfrm>
            <a:off x="7680960" y="4815840"/>
            <a:ext cx="3779520" cy="914400"/>
          </a:xfrm>
          <a:prstGeom prst="roundRect">
            <a:avLst>
              <a:gd name="adj" fmla="val 24000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Chip icon bg 4"/>
          <p:cNvSpPr/>
          <p:nvPr/>
        </p:nvSpPr>
        <p:spPr>
          <a:xfrm>
            <a:off x="7863840" y="4962144"/>
            <a:ext cx="621792" cy="621792"/>
          </a:xfrm>
          <a:prstGeom prst="ellipse">
            <a:avLst/>
          </a:prstGeom>
          <a:solidFill>
            <a:srgbClr val="FF5A36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20" name="Chip icon 4" descr="Graphics, 3D &amp; Anim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240" y="5102352"/>
            <a:ext cx="316992" cy="316992"/>
          </a:xfrm>
          <a:prstGeom prst="rect">
            <a:avLst/>
          </a:prstGeom>
        </p:spPr>
      </p:pic>
      <p:sp>
        <p:nvSpPr>
          <p:cNvPr id="21" name="Chip label 4"/>
          <p:cNvSpPr txBox="1"/>
          <p:nvPr/>
        </p:nvSpPr>
        <p:spPr>
          <a:xfrm>
            <a:off x="8656320" y="4815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Graphics, 3D &amp; Animation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35498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87680"/>
            <a:ext cx="10728960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Two worlds. One partner.</a:t>
            </a:r>
          </a:p>
        </p:txBody>
      </p:sp>
      <p:sp>
        <p:nvSpPr>
          <p:cNvPr id="4" name="Intro text"/>
          <p:cNvSpPr txBox="1"/>
          <p:nvPr/>
        </p:nvSpPr>
        <p:spPr>
          <a:xfrm>
            <a:off x="731520" y="1828800"/>
            <a:ext cx="475488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333"/>
              </a:spcAft>
            </a:pPr>
            <a:r>
              <a:rPr lang="en-US" sz="24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Systems, Animation &amp; Cloud Services</a:t>
            </a:r>
            <a:endParaRPr lang="en-US" sz="2400" dirty="0"/>
          </a:p>
          <a:p>
            <a:pPr>
              <a:spcAft>
                <a:spcPts val="1333"/>
              </a:spcAft>
            </a:pPr>
            <a:r>
              <a:rPr lang="en-US" sz="24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ISACS protects the technology your organisation runs on, and brings your ideas to life with world-class visuals.</a:t>
            </a:r>
            <a:endParaRPr lang="en-US" sz="2400" dirty="0"/>
          </a:p>
        </p:txBody>
      </p:sp>
      <p:sp>
        <p:nvSpPr>
          <p:cNvPr id="5" name="Technology card"/>
          <p:cNvSpPr/>
          <p:nvPr/>
        </p:nvSpPr>
        <p:spPr>
          <a:xfrm>
            <a:off x="5974080" y="1828800"/>
            <a:ext cx="2560320" cy="3901440"/>
          </a:xfrm>
          <a:prstGeom prst="roundRect">
            <a:avLst>
              <a:gd name="adj" fmla="val 7143"/>
            </a:avLst>
          </a:prstGeom>
          <a:solidFill>
            <a:srgbClr val="0A192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chnology icon bg"/>
          <p:cNvSpPr/>
          <p:nvPr/>
        </p:nvSpPr>
        <p:spPr>
          <a:xfrm>
            <a:off x="6827520" y="2255520"/>
            <a:ext cx="853440" cy="8534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7" name="Technology icon" descr="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2438400"/>
            <a:ext cx="487680" cy="487680"/>
          </a:xfrm>
          <a:prstGeom prst="rect">
            <a:avLst/>
          </a:prstGeom>
        </p:spPr>
      </p:pic>
      <p:sp>
        <p:nvSpPr>
          <p:cNvPr id="8" name="Technology title"/>
          <p:cNvSpPr txBox="1"/>
          <p:nvPr/>
        </p:nvSpPr>
        <p:spPr>
          <a:xfrm>
            <a:off x="6096000" y="3413760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2933" dirty="0"/>
          </a:p>
        </p:txBody>
      </p:sp>
      <p:sp>
        <p:nvSpPr>
          <p:cNvPr id="9" name="Technology text"/>
          <p:cNvSpPr txBox="1"/>
          <p:nvPr/>
        </p:nvSpPr>
        <p:spPr>
          <a:xfrm>
            <a:off x="6217920" y="4145280"/>
            <a:ext cx="207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what you run</a:t>
            </a:r>
            <a:endParaRPr lang="en-US" sz="2133" dirty="0"/>
          </a:p>
        </p:txBody>
      </p:sp>
      <p:sp>
        <p:nvSpPr>
          <p:cNvPr id="10" name="Creative card"/>
          <p:cNvSpPr/>
          <p:nvPr/>
        </p:nvSpPr>
        <p:spPr>
          <a:xfrm>
            <a:off x="8778240" y="1828800"/>
            <a:ext cx="2560320" cy="3901440"/>
          </a:xfrm>
          <a:prstGeom prst="roundRect">
            <a:avLst>
              <a:gd name="adj" fmla="val 7143"/>
            </a:avLst>
          </a:prstGeom>
          <a:solidFill>
            <a:srgbClr val="FF5A36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Creative icon bg"/>
          <p:cNvSpPr/>
          <p:nvPr/>
        </p:nvSpPr>
        <p:spPr>
          <a:xfrm>
            <a:off x="9631680" y="2255520"/>
            <a:ext cx="853440" cy="85344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2" name="Creative icon" descr="Creati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4560" y="2438400"/>
            <a:ext cx="487680" cy="487680"/>
          </a:xfrm>
          <a:prstGeom prst="rect">
            <a:avLst/>
          </a:prstGeom>
        </p:spPr>
      </p:pic>
      <p:sp>
        <p:nvSpPr>
          <p:cNvPr id="13" name="Creative title"/>
          <p:cNvSpPr txBox="1"/>
          <p:nvPr/>
        </p:nvSpPr>
        <p:spPr>
          <a:xfrm>
            <a:off x="8900160" y="3413760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</a:t>
            </a:r>
            <a:endParaRPr lang="en-US" sz="2933" dirty="0"/>
          </a:p>
        </p:txBody>
      </p:sp>
      <p:sp>
        <p:nvSpPr>
          <p:cNvPr id="14" name="Creative text"/>
          <p:cNvSpPr txBox="1"/>
          <p:nvPr/>
        </p:nvSpPr>
        <p:spPr>
          <a:xfrm>
            <a:off x="9022080" y="4145280"/>
            <a:ext cx="207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what you imagine</a:t>
            </a:r>
            <a:endParaRPr lang="en-US" sz="21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87680"/>
            <a:ext cx="10728960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Five services, one roof</a:t>
            </a:r>
          </a:p>
        </p:txBody>
      </p:sp>
      <p:sp>
        <p:nvSpPr>
          <p:cNvPr id="4" name="Service icon bg 1"/>
          <p:cNvSpPr/>
          <p:nvPr/>
        </p:nvSpPr>
        <p:spPr>
          <a:xfrm>
            <a:off x="731520" y="1767840"/>
            <a:ext cx="670560" cy="6705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5" name="Service icon 1" descr="Managed IT Servic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08" y="1938528"/>
            <a:ext cx="329184" cy="329184"/>
          </a:xfrm>
          <a:prstGeom prst="rect">
            <a:avLst/>
          </a:prstGeom>
        </p:spPr>
      </p:pic>
      <p:sp>
        <p:nvSpPr>
          <p:cNvPr id="6" name="Service text 1"/>
          <p:cNvSpPr txBox="1"/>
          <p:nvPr/>
        </p:nvSpPr>
        <p:spPr>
          <a:xfrm>
            <a:off x="1645920" y="1706880"/>
            <a:ext cx="65836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 Services</a:t>
            </a:r>
            <a:endParaRPr lang="en-US" sz="2133" dirty="0"/>
          </a:p>
          <a:p>
            <a:r>
              <a:rPr lang="en-US" sz="1867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support and monitoring for your business systems</a:t>
            </a:r>
            <a:endParaRPr lang="en-US" sz="2133" dirty="0"/>
          </a:p>
        </p:txBody>
      </p:sp>
      <p:sp>
        <p:nvSpPr>
          <p:cNvPr id="7" name="Service icon bg 2"/>
          <p:cNvSpPr/>
          <p:nvPr/>
        </p:nvSpPr>
        <p:spPr>
          <a:xfrm>
            <a:off x="731520" y="2621280"/>
            <a:ext cx="670560" cy="6705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8" name="Service icon 2" descr="Cybersecur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208" y="2791968"/>
            <a:ext cx="329184" cy="329184"/>
          </a:xfrm>
          <a:prstGeom prst="rect">
            <a:avLst/>
          </a:prstGeom>
        </p:spPr>
      </p:pic>
      <p:sp>
        <p:nvSpPr>
          <p:cNvPr id="9" name="Service text 2"/>
          <p:cNvSpPr txBox="1"/>
          <p:nvPr/>
        </p:nvSpPr>
        <p:spPr>
          <a:xfrm>
            <a:off x="1645920" y="2560320"/>
            <a:ext cx="65836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2133" dirty="0"/>
          </a:p>
          <a:p>
            <a:r>
              <a:rPr lang="en-US" sz="1867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threat monitoring and protection for your network</a:t>
            </a:r>
            <a:endParaRPr lang="en-US" sz="2133" dirty="0"/>
          </a:p>
        </p:txBody>
      </p:sp>
      <p:sp>
        <p:nvSpPr>
          <p:cNvPr id="10" name="Service icon bg 3"/>
          <p:cNvSpPr/>
          <p:nvPr/>
        </p:nvSpPr>
        <p:spPr>
          <a:xfrm>
            <a:off x="731520" y="3474720"/>
            <a:ext cx="670560" cy="6705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1" name="Service icon 3" descr="Cloud Servic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208" y="3645408"/>
            <a:ext cx="329184" cy="329184"/>
          </a:xfrm>
          <a:prstGeom prst="rect">
            <a:avLst/>
          </a:prstGeom>
        </p:spPr>
      </p:pic>
      <p:sp>
        <p:nvSpPr>
          <p:cNvPr id="12" name="Service text 3"/>
          <p:cNvSpPr txBox="1"/>
          <p:nvPr/>
        </p:nvSpPr>
        <p:spPr>
          <a:xfrm>
            <a:off x="1645920" y="3413760"/>
            <a:ext cx="65836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2133" dirty="0"/>
          </a:p>
          <a:p>
            <a:r>
              <a:rPr lang="en-US" sz="1867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secure cloud hosting and migration</a:t>
            </a:r>
            <a:endParaRPr lang="en-US" sz="2133" dirty="0"/>
          </a:p>
        </p:txBody>
      </p:sp>
      <p:sp>
        <p:nvSpPr>
          <p:cNvPr id="13" name="Service icon bg 4"/>
          <p:cNvSpPr/>
          <p:nvPr/>
        </p:nvSpPr>
        <p:spPr>
          <a:xfrm>
            <a:off x="731520" y="4328160"/>
            <a:ext cx="670560" cy="6705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4" name="Service icon 4" descr="Artificial Intelligen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208" y="4498848"/>
            <a:ext cx="329184" cy="329184"/>
          </a:xfrm>
          <a:prstGeom prst="rect">
            <a:avLst/>
          </a:prstGeom>
        </p:spPr>
      </p:pic>
      <p:sp>
        <p:nvSpPr>
          <p:cNvPr id="15" name="Service text 4"/>
          <p:cNvSpPr txBox="1"/>
          <p:nvPr/>
        </p:nvSpPr>
        <p:spPr>
          <a:xfrm>
            <a:off x="1645920" y="4267200"/>
            <a:ext cx="65836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2133" dirty="0"/>
          </a:p>
          <a:p>
            <a:r>
              <a:rPr lang="en-US" sz="1867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that automate and inform decisions</a:t>
            </a:r>
            <a:endParaRPr lang="en-US" sz="2133" dirty="0"/>
          </a:p>
        </p:txBody>
      </p:sp>
      <p:sp>
        <p:nvSpPr>
          <p:cNvPr id="16" name="Service icon bg 5"/>
          <p:cNvSpPr/>
          <p:nvPr/>
        </p:nvSpPr>
        <p:spPr>
          <a:xfrm>
            <a:off x="731520" y="5181600"/>
            <a:ext cx="670560" cy="670560"/>
          </a:xfrm>
          <a:prstGeom prst="ellipse">
            <a:avLst/>
          </a:prstGeom>
          <a:solidFill>
            <a:srgbClr val="FF5A36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7" name="Service icon 5" descr="Graphics, 3D &amp; Anim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208" y="5352288"/>
            <a:ext cx="329184" cy="329184"/>
          </a:xfrm>
          <a:prstGeom prst="rect">
            <a:avLst/>
          </a:prstGeom>
        </p:spPr>
      </p:pic>
      <p:sp>
        <p:nvSpPr>
          <p:cNvPr id="18" name="Service text 5"/>
          <p:cNvSpPr txBox="1"/>
          <p:nvPr/>
        </p:nvSpPr>
        <p:spPr>
          <a:xfrm>
            <a:off x="1645920" y="5120640"/>
            <a:ext cx="65836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Graphics, 3D &amp; Animation</a:t>
            </a:r>
            <a:endParaRPr lang="en-US" sz="2133" dirty="0"/>
          </a:p>
          <a:p>
            <a:r>
              <a:rPr lang="en-US" sz="1867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renders, motion graphics and immersive visuals</a:t>
            </a:r>
            <a:endParaRPr lang="en-US" sz="2133" dirty="0"/>
          </a:p>
        </p:txBody>
      </p:sp>
      <p:sp>
        <p:nvSpPr>
          <p:cNvPr id="19" name="Logo panel"/>
          <p:cNvSpPr/>
          <p:nvPr/>
        </p:nvSpPr>
        <p:spPr>
          <a:xfrm>
            <a:off x="8656320" y="1767840"/>
            <a:ext cx="2804160" cy="4267200"/>
          </a:xfrm>
          <a:prstGeom prst="roundRect">
            <a:avLst>
              <a:gd name="adj" fmla="val 6522"/>
            </a:avLst>
          </a:prstGeom>
          <a:solidFill>
            <a:srgbClr val="0A192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20" name="Panel logo" descr="ISACS 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3352801"/>
            <a:ext cx="2560320" cy="909881"/>
          </a:xfrm>
          <a:prstGeom prst="rect">
            <a:avLst/>
          </a:prstGeom>
        </p:spPr>
      </p:pic>
      <p:sp>
        <p:nvSpPr>
          <p:cNvPr id="21" name="Panel caption"/>
          <p:cNvSpPr txBox="1"/>
          <p:nvPr/>
        </p:nvSpPr>
        <p:spPr>
          <a:xfrm>
            <a:off x="8900160" y="4328160"/>
            <a:ext cx="23164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under one roof</a:t>
            </a:r>
            <a:endParaRPr lang="en-US" sz="18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87680"/>
            <a:ext cx="10728960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Securing your infrastructure</a:t>
            </a:r>
          </a:p>
        </p:txBody>
      </p:sp>
      <p:sp>
        <p:nvSpPr>
          <p:cNvPr id="4" name="Stat card"/>
          <p:cNvSpPr/>
          <p:nvPr/>
        </p:nvSpPr>
        <p:spPr>
          <a:xfrm>
            <a:off x="731520" y="1828800"/>
            <a:ext cx="3901440" cy="4023360"/>
          </a:xfrm>
          <a:prstGeom prst="roundRect">
            <a:avLst>
              <a:gd name="adj" fmla="val 4688"/>
            </a:avLst>
          </a:prstGeom>
          <a:solidFill>
            <a:srgbClr val="0A192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tat value"/>
          <p:cNvSpPr txBox="1"/>
          <p:nvPr/>
        </p:nvSpPr>
        <p:spPr>
          <a:xfrm>
            <a:off x="731520" y="2438400"/>
            <a:ext cx="3901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33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8533" dirty="0"/>
          </a:p>
        </p:txBody>
      </p:sp>
      <p:sp>
        <p:nvSpPr>
          <p:cNvPr id="6" name="Stat label"/>
          <p:cNvSpPr txBox="1"/>
          <p:nvPr/>
        </p:nvSpPr>
        <p:spPr>
          <a:xfrm>
            <a:off x="1097280" y="4023360"/>
            <a:ext cx="31699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monitoring and protection for your network</a:t>
            </a:r>
            <a:endParaRPr lang="en-US" sz="2133" dirty="0"/>
          </a:p>
        </p:txBody>
      </p:sp>
      <p:sp>
        <p:nvSpPr>
          <p:cNvPr id="7" name="Row card 1"/>
          <p:cNvSpPr/>
          <p:nvPr/>
        </p:nvSpPr>
        <p:spPr>
          <a:xfrm>
            <a:off x="5120640" y="1828800"/>
            <a:ext cx="6339840" cy="1219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Row icon bg 1"/>
          <p:cNvSpPr/>
          <p:nvPr/>
        </p:nvSpPr>
        <p:spPr>
          <a:xfrm>
            <a:off x="5364480" y="207264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9" name="Row icon 1" descr="Cybersecur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2267712"/>
            <a:ext cx="341376" cy="341376"/>
          </a:xfrm>
          <a:prstGeom prst="rect">
            <a:avLst/>
          </a:prstGeom>
        </p:spPr>
      </p:pic>
      <p:sp>
        <p:nvSpPr>
          <p:cNvPr id="10" name="Row text 1"/>
          <p:cNvSpPr txBox="1"/>
          <p:nvPr/>
        </p:nvSpPr>
        <p:spPr>
          <a:xfrm>
            <a:off x="6339840" y="182880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2400" dirty="0"/>
          </a:p>
          <a:p>
            <a:r>
              <a:rPr lang="en-US" sz="1867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Round-the-clock defence against evolving threats</a:t>
            </a:r>
            <a:endParaRPr lang="en-US" sz="2400" dirty="0"/>
          </a:p>
        </p:txBody>
      </p:sp>
      <p:sp>
        <p:nvSpPr>
          <p:cNvPr id="11" name="Row card 2"/>
          <p:cNvSpPr/>
          <p:nvPr/>
        </p:nvSpPr>
        <p:spPr>
          <a:xfrm>
            <a:off x="5120640" y="3230880"/>
            <a:ext cx="6339840" cy="1219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Row icon bg 2"/>
          <p:cNvSpPr/>
          <p:nvPr/>
        </p:nvSpPr>
        <p:spPr>
          <a:xfrm>
            <a:off x="5364480" y="347472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3" name="Row icon 2" descr="Cloud Servic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3669792"/>
            <a:ext cx="341376" cy="341376"/>
          </a:xfrm>
          <a:prstGeom prst="rect">
            <a:avLst/>
          </a:prstGeom>
        </p:spPr>
      </p:pic>
      <p:sp>
        <p:nvSpPr>
          <p:cNvPr id="14" name="Row text 2"/>
          <p:cNvSpPr txBox="1"/>
          <p:nvPr/>
        </p:nvSpPr>
        <p:spPr>
          <a:xfrm>
            <a:off x="6339840" y="323088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2400" dirty="0"/>
          </a:p>
          <a:p>
            <a:r>
              <a:rPr lang="en-US" sz="1867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hosting and migration that scales with you</a:t>
            </a:r>
            <a:endParaRPr lang="en-US" sz="2400" dirty="0"/>
          </a:p>
        </p:txBody>
      </p:sp>
      <p:sp>
        <p:nvSpPr>
          <p:cNvPr id="15" name="Row card 3"/>
          <p:cNvSpPr/>
          <p:nvPr/>
        </p:nvSpPr>
        <p:spPr>
          <a:xfrm>
            <a:off x="5120640" y="4632960"/>
            <a:ext cx="6339840" cy="1219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Row icon bg 3"/>
          <p:cNvSpPr/>
          <p:nvPr/>
        </p:nvSpPr>
        <p:spPr>
          <a:xfrm>
            <a:off x="5364480" y="487680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7" name="Row icon 3" descr="Managed 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2" y="5071872"/>
            <a:ext cx="341376" cy="341376"/>
          </a:xfrm>
          <a:prstGeom prst="rect">
            <a:avLst/>
          </a:prstGeom>
        </p:spPr>
      </p:pic>
      <p:sp>
        <p:nvSpPr>
          <p:cNvPr id="18" name="Row text 3"/>
          <p:cNvSpPr txBox="1"/>
          <p:nvPr/>
        </p:nvSpPr>
        <p:spPr>
          <a:xfrm>
            <a:off x="6339840" y="4632960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</a:t>
            </a:r>
            <a:endParaRPr lang="en-US" sz="2400" dirty="0"/>
          </a:p>
          <a:p>
            <a:r>
              <a:rPr lang="en-US" sz="1867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support so your systems stay online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548640"/>
            <a:ext cx="10728960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Animating your imagination</a:t>
            </a:r>
          </a:p>
        </p:txBody>
      </p:sp>
      <p:sp>
        <p:nvSpPr>
          <p:cNvPr id="4" name="Feature card 1"/>
          <p:cNvSpPr/>
          <p:nvPr/>
        </p:nvSpPr>
        <p:spPr>
          <a:xfrm>
            <a:off x="731520" y="2011680"/>
            <a:ext cx="5242560" cy="3779520"/>
          </a:xfrm>
          <a:prstGeom prst="roundRect">
            <a:avLst>
              <a:gd name="adj" fmla="val 4839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Feature icon bg 1"/>
          <p:cNvSpPr/>
          <p:nvPr/>
        </p:nvSpPr>
        <p:spPr>
          <a:xfrm>
            <a:off x="1219200" y="2438400"/>
            <a:ext cx="1097280" cy="10972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6" name="Feature icon 1" descr="Artificial Intellig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24" y="2706624"/>
            <a:ext cx="560832" cy="560832"/>
          </a:xfrm>
          <a:prstGeom prst="rect">
            <a:avLst/>
          </a:prstGeom>
        </p:spPr>
      </p:pic>
      <p:sp>
        <p:nvSpPr>
          <p:cNvPr id="7" name="Feature title 1"/>
          <p:cNvSpPr txBox="1"/>
          <p:nvPr/>
        </p:nvSpPr>
        <p:spPr>
          <a:xfrm>
            <a:off x="1219200" y="3779520"/>
            <a:ext cx="4511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2667" dirty="0"/>
          </a:p>
        </p:txBody>
      </p:sp>
      <p:sp>
        <p:nvSpPr>
          <p:cNvPr id="8" name="Feature text 1"/>
          <p:cNvSpPr txBox="1"/>
          <p:nvPr/>
        </p:nvSpPr>
        <p:spPr>
          <a:xfrm>
            <a:off x="1219200" y="4511040"/>
            <a:ext cx="42672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that automate work and inform decisions.</a:t>
            </a:r>
            <a:endParaRPr lang="en-US" sz="2133" dirty="0"/>
          </a:p>
        </p:txBody>
      </p:sp>
      <p:sp>
        <p:nvSpPr>
          <p:cNvPr id="9" name="Feature card 2"/>
          <p:cNvSpPr/>
          <p:nvPr/>
        </p:nvSpPr>
        <p:spPr>
          <a:xfrm>
            <a:off x="6217920" y="2011680"/>
            <a:ext cx="5242560" cy="3779520"/>
          </a:xfrm>
          <a:prstGeom prst="roundRect">
            <a:avLst>
              <a:gd name="adj" fmla="val 4839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Feature icon bg 2"/>
          <p:cNvSpPr/>
          <p:nvPr/>
        </p:nvSpPr>
        <p:spPr>
          <a:xfrm>
            <a:off x="6705600" y="2438400"/>
            <a:ext cx="1097280" cy="1097280"/>
          </a:xfrm>
          <a:prstGeom prst="ellipse">
            <a:avLst/>
          </a:prstGeom>
          <a:solidFill>
            <a:srgbClr val="FF5A36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1" name="Feature icon 2" descr="Graphics, 3D &amp; Ani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824" y="2706624"/>
            <a:ext cx="560832" cy="560832"/>
          </a:xfrm>
          <a:prstGeom prst="rect">
            <a:avLst/>
          </a:prstGeom>
        </p:spPr>
      </p:pic>
      <p:sp>
        <p:nvSpPr>
          <p:cNvPr id="12" name="Feature title 2"/>
          <p:cNvSpPr txBox="1"/>
          <p:nvPr/>
        </p:nvSpPr>
        <p:spPr>
          <a:xfrm>
            <a:off x="6705600" y="3779520"/>
            <a:ext cx="4511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Graphics, 3D &amp; Animation</a:t>
            </a:r>
            <a:endParaRPr lang="en-US" sz="2667" dirty="0"/>
          </a:p>
        </p:txBody>
      </p:sp>
      <p:sp>
        <p:nvSpPr>
          <p:cNvPr id="13" name="Feature text 2"/>
          <p:cNvSpPr txBox="1"/>
          <p:nvPr/>
        </p:nvSpPr>
        <p:spPr>
          <a:xfrm>
            <a:off x="6705600" y="4511040"/>
            <a:ext cx="42672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renders, motion graphics and immersive visuals.</a:t>
            </a:r>
            <a:endParaRPr lang="en-US" sz="21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87680"/>
            <a:ext cx="10728960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Why choose ISACS</a:t>
            </a:r>
          </a:p>
        </p:txBody>
      </p:sp>
      <p:sp>
        <p:nvSpPr>
          <p:cNvPr id="4" name="Value card 1"/>
          <p:cNvSpPr/>
          <p:nvPr/>
        </p:nvSpPr>
        <p:spPr>
          <a:xfrm>
            <a:off x="731520" y="1950720"/>
            <a:ext cx="3413760" cy="3657600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Value number 1"/>
          <p:cNvSpPr txBox="1"/>
          <p:nvPr/>
        </p:nvSpPr>
        <p:spPr>
          <a:xfrm>
            <a:off x="731520" y="2377440"/>
            <a:ext cx="341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0" dirty="0"/>
          </a:p>
        </p:txBody>
      </p:sp>
      <p:sp>
        <p:nvSpPr>
          <p:cNvPr id="6" name="Value label 1"/>
          <p:cNvSpPr txBox="1"/>
          <p:nvPr/>
        </p:nvSpPr>
        <p:spPr>
          <a:xfrm>
            <a:off x="1036320" y="4023360"/>
            <a:ext cx="28041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 under one roof</a:t>
            </a:r>
            <a:endParaRPr lang="en-US" sz="2400" dirty="0"/>
          </a:p>
        </p:txBody>
      </p:sp>
      <p:sp>
        <p:nvSpPr>
          <p:cNvPr id="7" name="Value card 2"/>
          <p:cNvSpPr/>
          <p:nvPr/>
        </p:nvSpPr>
        <p:spPr>
          <a:xfrm>
            <a:off x="4389120" y="1950720"/>
            <a:ext cx="3413760" cy="3657600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Value number 2"/>
          <p:cNvSpPr txBox="1"/>
          <p:nvPr/>
        </p:nvSpPr>
        <p:spPr>
          <a:xfrm>
            <a:off x="4389120" y="2377440"/>
            <a:ext cx="341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8000" dirty="0"/>
          </a:p>
        </p:txBody>
      </p:sp>
      <p:sp>
        <p:nvSpPr>
          <p:cNvPr id="9" name="Value label 2"/>
          <p:cNvSpPr txBox="1"/>
          <p:nvPr/>
        </p:nvSpPr>
        <p:spPr>
          <a:xfrm>
            <a:off x="4693920" y="4023360"/>
            <a:ext cx="28041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monitoring and protection</a:t>
            </a:r>
            <a:endParaRPr lang="en-US" sz="2400" dirty="0"/>
          </a:p>
        </p:txBody>
      </p:sp>
      <p:sp>
        <p:nvSpPr>
          <p:cNvPr id="10" name="Value card 3"/>
          <p:cNvSpPr/>
          <p:nvPr/>
        </p:nvSpPr>
        <p:spPr>
          <a:xfrm>
            <a:off x="8046720" y="1950720"/>
            <a:ext cx="3413760" cy="3657600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Value number 3"/>
          <p:cNvSpPr txBox="1"/>
          <p:nvPr/>
        </p:nvSpPr>
        <p:spPr>
          <a:xfrm>
            <a:off x="8046720" y="2377440"/>
            <a:ext cx="341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0" dirty="0"/>
          </a:p>
        </p:txBody>
      </p:sp>
      <p:sp>
        <p:nvSpPr>
          <p:cNvPr id="12" name="Value label 3"/>
          <p:cNvSpPr txBox="1"/>
          <p:nvPr/>
        </p:nvSpPr>
        <p:spPr>
          <a:xfrm>
            <a:off x="8351520" y="4023360"/>
            <a:ext cx="28041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for technology and creativity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4876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6339840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Ready to join us?</a:t>
            </a:r>
          </a:p>
        </p:txBody>
      </p:sp>
      <p:sp>
        <p:nvSpPr>
          <p:cNvPr id="4" name="CTA text"/>
          <p:cNvSpPr txBox="1"/>
          <p:nvPr/>
        </p:nvSpPr>
        <p:spPr>
          <a:xfrm>
            <a:off x="731520" y="2682240"/>
            <a:ext cx="609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ISACS secure your systems and bring your ideas to life.</a:t>
            </a:r>
            <a:endParaRPr lang="en-US" sz="2400" dirty="0"/>
          </a:p>
        </p:txBody>
      </p:sp>
      <p:sp>
        <p:nvSpPr>
          <p:cNvPr id="5" name="CTA button"/>
          <p:cNvSpPr/>
          <p:nvPr/>
        </p:nvSpPr>
        <p:spPr>
          <a:xfrm>
            <a:off x="731520" y="4023360"/>
            <a:ext cx="4145280" cy="85344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CTA button label">
            <a:hlinkClick r:id="rId3"/>
          </p:cNvPr>
          <p:cNvSpPr txBox="1"/>
          <p:nvPr/>
        </p:nvSpPr>
        <p:spPr>
          <a:xfrm>
            <a:off x="731520" y="4023360"/>
            <a:ext cx="4145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Free Consultation</a:t>
            </a:r>
            <a:endParaRPr lang="en-US" sz="2133" dirty="0"/>
          </a:p>
        </p:txBody>
      </p:sp>
      <p:pic>
        <p:nvPicPr>
          <p:cNvPr id="7" name="Web icon" descr="Websi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364480"/>
            <a:ext cx="365760" cy="365760"/>
          </a:xfrm>
          <a:prstGeom prst="rect">
            <a:avLst/>
          </a:prstGeom>
        </p:spPr>
      </p:pic>
      <p:sp>
        <p:nvSpPr>
          <p:cNvPr id="8" name="Website"/>
          <p:cNvSpPr txBox="1"/>
          <p:nvPr/>
        </p:nvSpPr>
        <p:spPr>
          <a:xfrm>
            <a:off x="1280160" y="530352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isacs.ls</a:t>
            </a:r>
            <a:endParaRPr lang="en-US" sz="2400" dirty="0"/>
          </a:p>
        </p:txBody>
      </p:sp>
      <p:sp>
        <p:nvSpPr>
          <p:cNvPr id="9" name="Logo card"/>
          <p:cNvSpPr/>
          <p:nvPr/>
        </p:nvSpPr>
        <p:spPr>
          <a:xfrm>
            <a:off x="7437120" y="1463040"/>
            <a:ext cx="4023360" cy="4328160"/>
          </a:xfrm>
          <a:prstGeom prst="roundRect">
            <a:avLst>
              <a:gd name="adj" fmla="val 4545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0" name="Closing logo" descr="ISACS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1920" y="2804161"/>
            <a:ext cx="3413760" cy="1213175"/>
          </a:xfrm>
          <a:prstGeom prst="rect">
            <a:avLst/>
          </a:prstGeom>
        </p:spPr>
      </p:pic>
      <p:sp>
        <p:nvSpPr>
          <p:cNvPr id="11" name="Closing tagline"/>
          <p:cNvSpPr txBox="1"/>
          <p:nvPr/>
        </p:nvSpPr>
        <p:spPr>
          <a:xfrm>
            <a:off x="7559040" y="4450080"/>
            <a:ext cx="3779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Secure. </a:t>
            </a:r>
            <a:r>
              <a:rPr lang="en-US" sz="2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Smart. </a:t>
            </a:r>
            <a:r>
              <a:rPr lang="en-US" sz="240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253</Words>
  <Application>Microsoft Office PowerPoint</Application>
  <PresentationFormat>Widescreen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Secure. Smart. Creative.</vt:lpstr>
      <vt:lpstr>Two worlds. One partner.</vt:lpstr>
      <vt:lpstr>Five services, one roof</vt:lpstr>
      <vt:lpstr>Securing your infrastructure</vt:lpstr>
      <vt:lpstr>Animating your imagination</vt:lpstr>
      <vt:lpstr>Why choose ISACS</vt:lpstr>
      <vt:lpstr>Ready to join us?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Nkuebe Nkuebe</dc:creator>
  <cp:lastModifiedBy>Nkuebe Nkuebe</cp:lastModifiedBy>
  <cp:revision>1</cp:revision>
  <dcterms:created xsi:type="dcterms:W3CDTF">2026-10-09T00:43:08Z</dcterms:created>
  <dcterms:modified xsi:type="dcterms:W3CDTF">2026-10-09T01:02:06Z</dcterms:modified>
</cp:coreProperties>
</file>